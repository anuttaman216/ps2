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F497D"/>
                </a:solidFill>
                <a:latin typeface="Arial"/>
              </a:rPr>
              <a:t>Forecast skill vs random walk (% MAE reduction, out-of-sample 2021–26)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Capesize</c:v>
                </c:pt>
              </c:strCache>
            </c:strRef>
          </c:tx>
          <c:spPr>
            <a:solidFill>
              <a:srgbClr val="1F497D"/>
            </a:solidFill>
          </c:spPr>
          <c:cat>
            <c:strRef>
              <c:f>Sheet1!$A$2:$A$5</c:f>
              <c:strCache>
                <c:ptCount val="4"/>
                <c:pt idx="0">
                  <c:v>1 week</c:v>
                </c:pt>
                <c:pt idx="1">
                  <c:v>4 weeks</c:v>
                </c:pt>
                <c:pt idx="2">
                  <c:v>8 weeks</c:v>
                </c:pt>
                <c:pt idx="3">
                  <c:v>12 weeks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</c:v>
                </c:pt>
                <c:pt idx="1">
                  <c:v>9.2</c:v>
                </c:pt>
                <c:pt idx="2">
                  <c:v>9.3</c:v>
                </c:pt>
                <c:pt idx="3">
                  <c:v>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Panamax</c:v>
                </c:pt>
              </c:strCache>
            </c:strRef>
          </c:tx>
          <c:spPr>
            <a:solidFill>
              <a:srgbClr val="0070C0"/>
            </a:solidFill>
          </c:spPr>
          <c:cat>
            <c:strRef>
              <c:f>Sheet1!$A$2:$A$5</c:f>
              <c:strCache>
                <c:ptCount val="4"/>
                <c:pt idx="0">
                  <c:v>1 week</c:v>
                </c:pt>
                <c:pt idx="1">
                  <c:v>4 weeks</c:v>
                </c:pt>
                <c:pt idx="2">
                  <c:v>8 weeks</c:v>
                </c:pt>
                <c:pt idx="3">
                  <c:v>12 weeks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6.4</c:v>
                </c:pt>
                <c:pt idx="1">
                  <c:v>12.6</c:v>
                </c:pt>
                <c:pt idx="2">
                  <c:v>8.9</c:v>
                </c:pt>
                <c:pt idx="3">
                  <c:v>10.0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Supramax</c:v>
                </c:pt>
              </c:strCache>
            </c:strRef>
          </c:tx>
          <c:spPr>
            <a:solidFill>
              <a:srgbClr val="E36C0A"/>
            </a:solidFill>
          </c:spPr>
          <c:cat>
            <c:strRef>
              <c:f>Sheet1!$A$2:$A$5</c:f>
              <c:strCache>
                <c:ptCount val="4"/>
                <c:pt idx="0">
                  <c:v>1 week</c:v>
                </c:pt>
                <c:pt idx="1">
                  <c:v>4 weeks</c:v>
                </c:pt>
                <c:pt idx="2">
                  <c:v>8 weeks</c:v>
                </c:pt>
                <c:pt idx="3">
                  <c:v>12 weeks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6.6</c:v>
                </c:pt>
                <c:pt idx="1">
                  <c:v>10.0</c:v>
                </c:pt>
                <c:pt idx="2">
                  <c:v>6.4</c:v>
                </c:pt>
                <c:pt idx="3">
                  <c:v>3.3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Handysize</c:v>
                </c:pt>
              </c:strCache>
            </c:strRef>
          </c:tx>
          <c:spPr>
            <a:solidFill>
              <a:srgbClr val="2E8B57"/>
            </a:solidFill>
          </c:spPr>
          <c:cat>
            <c:strRef>
              <c:f>Sheet1!$A$2:$A$5</c:f>
              <c:strCache>
                <c:ptCount val="4"/>
                <c:pt idx="0">
                  <c:v>1 week</c:v>
                </c:pt>
                <c:pt idx="1">
                  <c:v>4 weeks</c:v>
                </c:pt>
                <c:pt idx="2">
                  <c:v>8 weeks</c:v>
                </c:pt>
                <c:pt idx="3">
                  <c:v>12 weeks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4.4</c:v>
                </c:pt>
                <c:pt idx="1">
                  <c:v>7.2</c:v>
                </c:pt>
                <c:pt idx="2">
                  <c:v>7.6</c:v>
                </c:pt>
                <c:pt idx="3">
                  <c:v>3.9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9D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7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5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F497D"/>
                </a:solidFill>
                <a:latin typeface="Arial"/>
              </a:rPr>
              <a:t>Average landed freight by strategy ($/t)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landed freight ($/t)</c:v>
                </c:pt>
              </c:strCache>
            </c:strRef>
          </c:tx>
          <c:dPt>
            <c:idx val="0"/>
            <c:spPr>
              <a:solidFill>
                <a:srgbClr val="C0504D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dPt>
            <c:idx val="2"/>
            <c:spPr>
              <a:solidFill>
                <a:srgbClr val="0070C0"/>
              </a:solidFill>
            </c:spPr>
          </c:dPt>
          <c:dPt>
            <c:idx val="3"/>
            <c:spPr>
              <a:solidFill>
                <a:srgbClr val="A6A6A6"/>
              </a:solidFill>
            </c:spPr>
          </c:dPt>
          <c:dPt>
            <c:idx val="4"/>
            <c:spPr>
              <a:solidFill>
                <a:srgbClr val="E36C0A"/>
              </a:solidFill>
            </c:spPr>
          </c:dPt>
          <c:dPt>
            <c:idx val="5"/>
            <c:spPr>
              <a:solidFill>
                <a:srgbClr val="8EA9C8"/>
              </a:solidFill>
            </c:spPr>
          </c:dPt>
          <c:cat>
            <c:strRef>
              <c:f>Sheet1!$A$2:$A$7</c:f>
              <c:strCache>
                <c:ptCount val="6"/>
                <c:pt idx="0">
                  <c:v>Daily spot
(today)</c:v>
                </c:pt>
                <c:pt idx="1">
                  <c:v>+ optimal
vessel</c:v>
                </c:pt>
                <c:pt idx="2">
                  <c:v>+ timed
spot</c:v>
                </c:pt>
                <c:pt idx="3">
                  <c:v>70% COA,
no model</c:v>
                </c:pt>
                <c:pt idx="4">
                  <c:v>Freight-
Saarthi</c:v>
                </c:pt>
                <c:pt idx="5">
                  <c:v>Perfect
foresight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17.5</c:v>
                </c:pt>
                <c:pt idx="1">
                  <c:v>15.54</c:v>
                </c:pt>
                <c:pt idx="2">
                  <c:v>15.29</c:v>
                </c:pt>
                <c:pt idx="3">
                  <c:v>17.48</c:v>
                </c:pt>
                <c:pt idx="4">
                  <c:v>15.06</c:v>
                </c:pt>
                <c:pt idx="5">
                  <c:v>13.87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9D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5"/>
          <c:min val="10.0"/>
        </c:scaling>
        <c:delete val="0"/>
        <c:axPos val="l"/>
        <c:majorGridlines>
          <c:spPr>
            <a:ln>
              <a:solidFill>
                <a:srgbClr val="E1E7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5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1F497D"/>
                </a:solidFill>
                <a:latin typeface="Arial"/>
              </a:rPr>
              <a:t>Research validation: no fake edge in a placebo market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Structured market (signal present)</c:v>
                </c:pt>
              </c:strCache>
            </c:strRef>
          </c:tx>
          <c:spPr>
            <a:solidFill>
              <a:srgbClr val="1F497D"/>
            </a:solidFill>
          </c:spPr>
          <c:cat>
            <c:strRef>
              <c:f>Sheet1!$A$2:$A$3</c:f>
              <c:strCache>
                <c:ptCount val="2"/>
                <c:pt idx="0">
                  <c:v>Timing + ladder gain
vs optimal-vessel spot (%)</c:v>
                </c:pt>
                <c:pt idx="1">
                  <c:v>4-week forecast skill,
Capesize (%)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</c:v>
                </c:pt>
                <c:pt idx="1">
                  <c:v>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Placebo market (unpredictable)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Sheet1!$A$2:$A$3</c:f>
              <c:strCache>
                <c:ptCount val="2"/>
                <c:pt idx="0">
                  <c:v>Timing + ladder gain
vs optimal-vessel spot (%)</c:v>
                </c:pt>
                <c:pt idx="1">
                  <c:v>4-week forecast skill,
Capesize (%)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-0.3</c:v>
                </c:pt>
                <c:pt idx="1">
                  <c:v>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FC9D6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1E7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595959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50">
          <a:solidFill>
            <a:srgbClr val="2626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74519"/>
            <a:ext cx="5924550" cy="475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1700" b="0" i="0" u="none">
                <a:solidFill>
                  <a:srgbClr val="1F497D"/>
                </a:solidFill>
                <a:latin typeface="Arial"/>
              </a:rPr>
              <a:t>26006</a:t>
            </a:r>
          </a:p>
          <a:p>
            <a:pPr marL="285750" indent="-285750" algn="just">
              <a:lnSpc>
                <a:spcPct val="2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sz="1500" b="0" i="0" u="none">
                <a:solidFill>
                  <a:srgbClr val="262626"/>
                </a:solidFill>
                <a:latin typeface="Arial"/>
              </a:rPr>
              <a:t>Development of an Intelligent Freight Forecasting Model for Optimized Vessel Chartering and Bulk Cargo Procurement from overseas to East Coast of India</a:t>
            </a:r>
          </a:p>
          <a:p>
            <a:pPr marL="285750" indent="-285750" algn="just">
              <a:lnSpc>
                <a:spcPct val="2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sz="1700" b="0" i="0" u="none">
                <a:solidFill>
                  <a:srgbClr val="1F497D"/>
                </a:solidFill>
                <a:latin typeface="Arial"/>
              </a:rPr>
              <a:t>Transportation &amp; Logistics</a:t>
            </a:r>
          </a:p>
          <a:p>
            <a:pPr marL="285750" indent="-285750" algn="just">
              <a:lnSpc>
                <a:spcPct val="2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sz="1700" b="0" i="0" u="none">
                <a:solidFill>
                  <a:srgbClr val="1F497D"/>
                </a:solidFill>
                <a:latin typeface="Arial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sz="1700" b="0" i="0" u="none">
                <a:solidFill>
                  <a:srgbClr val="1F497D"/>
                </a:solidFill>
                <a:latin typeface="Arial"/>
              </a:rPr>
              <a:t>153339</a:t>
            </a:r>
          </a:p>
          <a:p>
            <a:pPr marL="285750" indent="-285750" algn="just">
              <a:lnSpc>
                <a:spcPct val="20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sz="1700" b="0" i="0" u="none">
                <a:solidFill>
                  <a:srgbClr val="1F497D"/>
                </a:solidFill>
                <a:latin typeface="Arial"/>
              </a:rPr>
              <a:t>SINISTER SIX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18288"/>
            <a:ext cx="10972800" cy="987552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sz="3000" b="1" i="0" u="none">
                <a:solidFill>
                  <a:srgbClr val="000000"/>
                </a:solidFill>
                <a:latin typeface="Times New Roman"/>
              </a:rPr>
              <a:t>FreightSaarthi</a:t>
            </a:r>
          </a:p>
          <a:p>
            <a:pPr/>
            <a:r>
              <a:rPr sz="1500" b="1" i="0" u="none">
                <a:solidFill>
                  <a:srgbClr val="1F497D"/>
                </a:solidFill>
                <a:latin typeface="Times New Roman"/>
              </a:rPr>
              <a:t>Forecast-driven “Charter Ladder” for SAIL’s coal imports to India’s East Coast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28600" y="1371600"/>
            <a:ext cx="117043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SINISTER</a:t>
            </a:r>
            <a:endParaRPr lang="en-IN" dirty="0"/>
          </a:p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320040" y="1810512"/>
            <a:ext cx="3931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Detailed explanation of the proposed solution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320040" y="2103120"/>
            <a:ext cx="3931920" cy="2103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Forecasts</a:t>
            </a:r>
            <a:r>
              <a:rPr sz="950" b="0" i="0" u="none">
                <a:solidFill>
                  <a:srgbClr val="262626"/>
                </a:solidFill>
                <a:latin typeface="Arial"/>
              </a:rPr>
              <a:t> Capesize, Panamax, Supramax &amp; Handysize freight 1–26 weeks ahead as calibrated P10–P50–P90 bands</a:t>
            </a:r>
          </a:p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Checks</a:t>
            </a:r>
            <a:r>
              <a:rPr sz="950" b="0" i="0" u="none">
                <a:solidFill>
                  <a:srgbClr val="262626"/>
                </a:solidFill>
                <a:latin typeface="Arial"/>
              </a:rPr>
              <a:t> every ship against load-port, discharge-port and strait limits → real parcel size + binding constraint</a:t>
            </a:r>
          </a:p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Translates</a:t>
            </a:r>
            <a:r>
              <a:rPr sz="950" b="0" i="0" u="none">
                <a:solidFill>
                  <a:srgbClr val="262626"/>
                </a:solidFill>
                <a:latin typeface="Arial"/>
              </a:rPr>
              <a:t> forecasts into landed $/t for all 10 origins × 7 East-Coast ports (freight + demurrage + stockyard + lighterage)</a:t>
            </a:r>
          </a:p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Optimises</a:t>
            </a:r>
            <a:r>
              <a:rPr sz="950" b="0" i="0" u="none">
                <a:solidFill>
                  <a:srgbClr val="262626"/>
                </a:solidFill>
                <a:latin typeface="Arial"/>
              </a:rPr>
              <a:t> contract mix (COA / period TC / timed spot) and entry timing under risk: min E[cost] + λ·CVaR</a:t>
            </a:r>
          </a:p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Protects</a:t>
            </a:r>
            <a:r>
              <a:rPr sz="950" b="0" i="0" u="none">
                <a:solidFill>
                  <a:srgbClr val="262626"/>
                </a:solidFill>
                <a:latin typeface="Arial"/>
              </a:rPr>
              <a:t> operations: idle-time &amp; ballast planning, early warnings for volatility, congestion, cyclones, Red Sea</a:t>
            </a:r>
          </a:p>
          <a:p>
            <a:pPr algn="l" marL="146304" indent="-146304">
              <a:spcAft>
                <a:spcPts val="300"/>
              </a:spcAft>
              <a:buClr>
                <a:srgbClr val="0070C0"/>
              </a:buClr>
              <a:buFont typeface="Arial"/>
              <a:buChar char="•"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Delivers</a:t>
            </a:r>
            <a:r>
              <a:rPr sz="950" b="0" i="0" u="none">
                <a:solidFill>
                  <a:srgbClr val="262626"/>
                </a:solidFill>
                <a:latin typeface="Arial"/>
              </a:rPr>
              <a:t> a working web app: decision cockpit, 35-endpoint API, audit ledger, real-data upload &amp; retrain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4434840" y="1810512"/>
            <a:ext cx="36118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How it addresses the problem</a:t>
            </a:r>
          </a:p>
        </p:txBody>
      </p:sp>
      <p:graphicFrame>
        <p:nvGraphicFramePr>
          <p:cNvPr id="15366" name="Table 15365"/>
          <p:cNvGraphicFramePr>
            <a:graphicFrameLocks noGrp="1"/>
          </p:cNvGraphicFramePr>
          <p:nvPr/>
        </p:nvGraphicFramePr>
        <p:xfrm>
          <a:off x="4434840" y="2103120"/>
          <a:ext cx="3611880" cy="20299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22960"/>
                <a:gridCol w="1280160"/>
                <a:gridCol w="1508760"/>
              </a:tblGrid>
              <a:tr h="338328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Today (daily spot)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FFFFFF"/>
                          </a:solidFill>
                          <a:latin typeface="Arial"/>
                        </a:rPr>
                        <a:t>With FreightSaarthi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Market entry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Reactive, daily market exploration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Forecast-timed windows, re-solved weekly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Contracts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268 single spot fixtures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54 spot; 73% on multi-voyage COA/TC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Vessel type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Habit (Panamax)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Draft-aware optimum per port pair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Idle time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Unplanned waits, ballast legs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Congestion forecast, laycan spacing, relet / JIT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Surprises after fixing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Early warnings + CVaR-capped exposure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67" name="TextBox 15366"/>
          <p:cNvSpPr txBox="1"/>
          <p:nvPr/>
        </p:nvSpPr>
        <p:spPr>
          <a:xfrm>
            <a:off x="8229600" y="181051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Working prototype (live cockpit)</a:t>
            </a:r>
          </a:p>
        </p:txBody>
      </p:sp>
      <p:pic>
        <p:nvPicPr>
          <p:cNvPr id="15368" name="Picture 15367" descr="crop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130258"/>
            <a:ext cx="3639312" cy="1637362"/>
          </a:xfrm>
          <a:prstGeom prst="rect">
            <a:avLst/>
          </a:prstGeom>
          <a:ln w="9525">
            <a:solidFill>
              <a:srgbClr val="9FB3CC"/>
            </a:solidFill>
          </a:ln>
        </p:spPr>
      </p:pic>
      <p:sp>
        <p:nvSpPr>
          <p:cNvPr id="15369" name="TextBox 15368"/>
          <p:cNvSpPr txBox="1"/>
          <p:nvPr/>
        </p:nvSpPr>
        <p:spPr>
          <a:xfrm>
            <a:off x="8229600" y="3804197"/>
            <a:ext cx="36393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50" b="0" i="1" u="none">
                <a:solidFill>
                  <a:srgbClr val="595959"/>
                </a:solidFill>
                <a:latin typeface="Arial"/>
              </a:rPr>
              <a:t>Overview page: next-quarter plan for the pilot lane Hay Point → Paradip, backtest KPIs and class forecasts (FastAPI + SQLite + JS cockpit)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320040" y="4315968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Innovation and uniqueness of the solution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320040" y="4617720"/>
            <a:ext cx="1847088" cy="16276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2" name="Oval 15371"/>
          <p:cNvSpPr/>
          <p:nvPr/>
        </p:nvSpPr>
        <p:spPr>
          <a:xfrm>
            <a:off x="429768" y="4727448"/>
            <a:ext cx="310896" cy="310896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3" name="TextBox 15372"/>
          <p:cNvSpPr txBox="1"/>
          <p:nvPr/>
        </p:nvSpPr>
        <p:spPr>
          <a:xfrm>
            <a:off x="429768" y="4727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777240" y="4690872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Physics-informed freight translator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11479" y="5148072"/>
            <a:ext cx="1682496" cy="1042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Only 4 class TCEs + bunker are forecast; any lane’s $/t = A·TCE + B·bunker + C → new routes work from day one.</a:t>
            </a:r>
          </a:p>
        </p:txBody>
      </p:sp>
      <p:sp>
        <p:nvSpPr>
          <p:cNvPr id="15376" name="Rounded Rectangle 15375"/>
          <p:cNvSpPr/>
          <p:nvPr/>
        </p:nvSpPr>
        <p:spPr>
          <a:xfrm>
            <a:off x="2256739" y="4617720"/>
            <a:ext cx="1847088" cy="16276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7" name="Oval 15376"/>
          <p:cNvSpPr/>
          <p:nvPr/>
        </p:nvSpPr>
        <p:spPr>
          <a:xfrm>
            <a:off x="2366467" y="4727448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8" name="TextBox 15377"/>
          <p:cNvSpPr txBox="1"/>
          <p:nvPr/>
        </p:nvSpPr>
        <p:spPr>
          <a:xfrm>
            <a:off x="2366467" y="4727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2713939" y="4690872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CVaR “Charter Ladder”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2348179" y="5148072"/>
            <a:ext cx="1682496" cy="1042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Two-stage stochastic LP decides how much COA / time charter to lock each week (±10% MOLCHOPT, dead-freight, ≤35% per tranche).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4193438" y="4617720"/>
            <a:ext cx="1847088" cy="16276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Oval 15381"/>
          <p:cNvSpPr/>
          <p:nvPr/>
        </p:nvSpPr>
        <p:spPr>
          <a:xfrm>
            <a:off x="4303166" y="4727448"/>
            <a:ext cx="310896" cy="310896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3" name="TextBox 15382"/>
          <p:cNvSpPr txBox="1"/>
          <p:nvPr/>
        </p:nvSpPr>
        <p:spPr>
          <a:xfrm>
            <a:off x="4303166" y="4727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4650638" y="4690872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Draft–Tide–Monsoon twin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284878" y="5148072"/>
            <a:ext cx="1682496" cy="1042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Load, discharge &amp; strait drafts (Torres 12.2 m, Suez), LOA/beam, berth DWT, stockyard, lighterage, two-port discharge.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6130137" y="4617720"/>
            <a:ext cx="1847088" cy="16276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7" name="Oval 15386"/>
          <p:cNvSpPr/>
          <p:nvPr/>
        </p:nvSpPr>
        <p:spPr>
          <a:xfrm>
            <a:off x="6239865" y="4727448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8" name="TextBox 15387"/>
          <p:cNvSpPr txBox="1"/>
          <p:nvPr/>
        </p:nvSpPr>
        <p:spPr>
          <a:xfrm>
            <a:off x="6239865" y="4727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587337" y="4690872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Honest, decision-focused evidence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6221577" y="5148072"/>
            <a:ext cx="1682496" cy="1042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Tuned on money saved, not MAE; walk-forward backtest, placebo market shows no fake edge, bootstrap CIs.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8066836" y="4617720"/>
            <a:ext cx="1847088" cy="16276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2" name="Oval 15391"/>
          <p:cNvSpPr/>
          <p:nvPr/>
        </p:nvSpPr>
        <p:spPr>
          <a:xfrm>
            <a:off x="8176564" y="4727448"/>
            <a:ext cx="310896" cy="310896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3" name="TextBox 15392"/>
          <p:cNvSpPr txBox="1"/>
          <p:nvPr/>
        </p:nvSpPr>
        <p:spPr>
          <a:xfrm>
            <a:off x="8176564" y="4727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524036" y="4690872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Broker Quote X-ray + idle manager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158276" y="5148072"/>
            <a:ext cx="1682496" cy="1042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Percentile of any broker quote in the fair-value band; triangulation, relet, JIT slow-steaming, laycan spacing.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10003536" y="4617720"/>
            <a:ext cx="1847088" cy="16276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7" name="Oval 15396"/>
          <p:cNvSpPr/>
          <p:nvPr/>
        </p:nvSpPr>
        <p:spPr>
          <a:xfrm>
            <a:off x="10113263" y="4727448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8" name="TextBox 15397"/>
          <p:cNvSpPr txBox="1"/>
          <p:nvPr/>
        </p:nvSpPr>
        <p:spPr>
          <a:xfrm>
            <a:off x="10113263" y="4727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10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10460736" y="4690872"/>
            <a:ext cx="13350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50" b="1" i="0" u="none">
                <a:solidFill>
                  <a:srgbClr val="1F497D"/>
                </a:solidFill>
                <a:latin typeface="Arial"/>
              </a:rPr>
              <a:t>Audit-ready &amp; real-data-ready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10094976" y="5148072"/>
            <a:ext cx="1682496" cy="1042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Hash-stamped decision ledger + printable charter notes (CVC/CAG); upload SAIL history → full retrain in ~35 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SINISTER</a:t>
            </a:r>
            <a:endParaRPr lang="en-IN" dirty="0"/>
          </a:p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069848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50" b="1" i="0" u="none">
                <a:solidFill>
                  <a:srgbClr val="1F497D"/>
                </a:solidFill>
                <a:latin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320040" y="1389888"/>
            <a:ext cx="1764792" cy="310896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320040" y="1389888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1  DATA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20040" y="1700784"/>
            <a:ext cx="1764792" cy="1060704"/>
          </a:xfrm>
          <a:prstGeom prst="rect">
            <a:avLst/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38328" y="1755648"/>
            <a:ext cx="1728216" cy="9692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Class TCE indices (4 sizes)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Bunker, coal price, China PMI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AIS ballasters, port waiting days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IMD / news events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Port &amp; vessel register</a:t>
            </a:r>
          </a:p>
        </p:txBody>
      </p:sp>
      <p:sp>
        <p:nvSpPr>
          <p:cNvPr id="17415" name="Right Arrow 17414"/>
          <p:cNvSpPr/>
          <p:nvPr/>
        </p:nvSpPr>
        <p:spPr>
          <a:xfrm>
            <a:off x="2103120" y="1984248"/>
            <a:ext cx="146304" cy="237744"/>
          </a:xfrm>
          <a:prstGeom prst="rightArrow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2267712" y="1389888"/>
            <a:ext cx="1764792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2267712" y="1389888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2  FORECAST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267712" y="1700784"/>
            <a:ext cx="1764792" cy="1060704"/>
          </a:xfrm>
          <a:prstGeom prst="rect">
            <a:avLst/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2286000" y="1755648"/>
            <a:ext cx="1728216" cy="9692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LightGBM quantile (global)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Structural ridge + random walk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Inverse-pinball ensemble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Online conformal (CQR) bands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1–26 wk, refit every 13 wk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4050791" y="1984248"/>
            <a:ext cx="146304" cy="237744"/>
          </a:xfrm>
          <a:prstGeom prst="rightArrow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4215383" y="1389888"/>
            <a:ext cx="1764792" cy="310896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4215383" y="1389888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3  SCENARIOS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215383" y="1700784"/>
            <a:ext cx="1764792" cy="1060704"/>
          </a:xfrm>
          <a:prstGeom prst="rect">
            <a:avLst/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4233671" y="1755648"/>
            <a:ext cx="1728216" cy="9692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Gaussian-copula paths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52 weeks × 4 classes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Bunker &amp; congestion paths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Programme-volume risk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150–300 scenarios</a:t>
            </a:r>
          </a:p>
        </p:txBody>
      </p:sp>
      <p:sp>
        <p:nvSpPr>
          <p:cNvPr id="17425" name="Right Arrow 17424"/>
          <p:cNvSpPr/>
          <p:nvPr/>
        </p:nvSpPr>
        <p:spPr>
          <a:xfrm>
            <a:off x="5998463" y="1984248"/>
            <a:ext cx="146304" cy="237744"/>
          </a:xfrm>
          <a:prstGeom prst="rightArrow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6163055" y="1389888"/>
            <a:ext cx="1764792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6163055" y="1389888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4  FEASIBILITY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6163055" y="1700784"/>
            <a:ext cx="1764792" cy="1060704"/>
          </a:xfrm>
          <a:prstGeom prst="rect">
            <a:avLst/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6181343" y="1755648"/>
            <a:ext cx="1728216" cy="9692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cargo = DWT − TPC·100·ΔT − const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LOA / beam / berth DWT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Torres, Suez, Malacca drafts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Monsoon &amp; stockyard limits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→ landed $/t per lane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7946136" y="1984248"/>
            <a:ext cx="146304" cy="237744"/>
          </a:xfrm>
          <a:prstGeom prst="rightArrow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8110727" y="1389888"/>
            <a:ext cx="1764792" cy="310896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TextBox 17431"/>
          <p:cNvSpPr txBox="1"/>
          <p:nvPr/>
        </p:nvSpPr>
        <p:spPr>
          <a:xfrm>
            <a:off x="8110727" y="1389888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5  CHARTER LADDER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8110727" y="1700784"/>
            <a:ext cx="1764792" cy="1060704"/>
          </a:xfrm>
          <a:prstGeom prst="rect">
            <a:avLst/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8129015" y="1755648"/>
            <a:ext cx="1728216" cy="9692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2-stage LP (SciPy HiGHS)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min E[cost] + λ·CVaR90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COA / period TC / spot split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Tolerance &amp; dead-freight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≤35% lock per week</a:t>
            </a:r>
          </a:p>
        </p:txBody>
      </p:sp>
      <p:sp>
        <p:nvSpPr>
          <p:cNvPr id="17435" name="Right Arrow 17434"/>
          <p:cNvSpPr/>
          <p:nvPr/>
        </p:nvSpPr>
        <p:spPr>
          <a:xfrm>
            <a:off x="9893807" y="1984248"/>
            <a:ext cx="146304" cy="237744"/>
          </a:xfrm>
          <a:prstGeom prst="rightArrow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ectangle 17435"/>
          <p:cNvSpPr/>
          <p:nvPr/>
        </p:nvSpPr>
        <p:spPr>
          <a:xfrm>
            <a:off x="10058399" y="1389888"/>
            <a:ext cx="1764792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10058399" y="1389888"/>
            <a:ext cx="17647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6  COCKPIT &amp; LEDGER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10058399" y="1700784"/>
            <a:ext cx="1764792" cy="1060704"/>
          </a:xfrm>
          <a:prstGeom prst="rect">
            <a:avLst/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10076687" y="1755648"/>
            <a:ext cx="1728216" cy="96926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Plan, compare, what-if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Broker Quote X-ray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Alerts &amp; idle manager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SQLite audit ledger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00" b="0" i="0" u="none">
                <a:solidFill>
                  <a:srgbClr val="262626"/>
                </a:solidFill>
                <a:latin typeface="Arial"/>
              </a:rPr>
              <a:t>Charter note (PDF)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20040" y="2834640"/>
            <a:ext cx="11521440" cy="274320"/>
          </a:xfrm>
          <a:prstGeom prst="roundRect">
            <a:avLst>
              <a:gd name="adj" fmla="val 30000"/>
            </a:avLst>
          </a:prstGeom>
          <a:solidFill>
            <a:srgbClr val="FDF0E4"/>
          </a:solidFill>
          <a:ln w="9525">
            <a:solidFill>
              <a:srgbClr val="F2C6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411480" y="2834640"/>
            <a:ext cx="11338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50" b="1" i="0" u="none">
                <a:solidFill>
                  <a:srgbClr val="E36C0A"/>
                </a:solidFill>
                <a:latin typeface="Arial"/>
              </a:rPr>
              <a:t>Feedback loop:  </a:t>
            </a:r>
            <a:r>
              <a:rPr sz="850" b="0" i="0" u="none">
                <a:solidFill>
                  <a:srgbClr val="262626"/>
                </a:solidFill>
                <a:latin typeface="Arial"/>
              </a:rPr>
              <a:t>walk-forward backtest + decision-focused tuning set λ (risk), δ (stopping) and ladder step on a validation period;  ledger outcomes (actual fixed rates) recalibrate owner premiums;  LP re-solved every week.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20040" y="321868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Technologies to be used (e.g. programming languages, frameworks, hardware)</a:t>
            </a:r>
          </a:p>
        </p:txBody>
      </p:sp>
      <p:graphicFrame>
        <p:nvGraphicFramePr>
          <p:cNvPr id="17443" name="Table 17442"/>
          <p:cNvGraphicFramePr>
            <a:graphicFrameLocks noGrp="1"/>
          </p:cNvGraphicFramePr>
          <p:nvPr/>
        </p:nvGraphicFramePr>
        <p:xfrm>
          <a:off x="320040" y="3529584"/>
          <a:ext cx="5394960" cy="23865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60120"/>
                <a:gridCol w="2468880"/>
                <a:gridCol w="1965960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Used for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Languages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Python 3.14, JavaScript (ES2020), SQL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Models, API, cockpit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Data &amp; ML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pandas, NumPy, LightGBM, scikit-learn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Quantile GBM, ridge, features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Optimisation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SciPy + HiGHS linear programming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CVaR ladder LP in ~30 ms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FastAPI, Uvicorn, Pydantic, SQLite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35 REST endpoints, audit DB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HTML5 Canvas / SVG, Plotly.js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Cockpit, lane map, fit simulator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AI (optional)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Claude API structured output; Chronos / TimesFM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News → events; extra member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Hardware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Any laptop / on-prem server, no GPU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Offline, data stays in SAIL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Automated API test suite (httpx)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11/11 test groups passing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7444" name="TextBox 17443"/>
          <p:cNvSpPr txBox="1"/>
          <p:nvPr/>
        </p:nvSpPr>
        <p:spPr>
          <a:xfrm>
            <a:off x="5943600" y="3218688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Working prototype – screens from the running application</a:t>
            </a:r>
          </a:p>
        </p:txBody>
      </p:sp>
      <p:pic>
        <p:nvPicPr>
          <p:cNvPr id="17445" name="Picture 17444" descr="crop_lan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530201"/>
            <a:ext cx="2907792" cy="1068613"/>
          </a:xfrm>
          <a:prstGeom prst="rect">
            <a:avLst/>
          </a:prstGeom>
          <a:ln w="9525">
            <a:solidFill>
              <a:srgbClr val="9FB3CC"/>
            </a:solidFill>
          </a:ln>
        </p:spPr>
      </p:pic>
      <p:sp>
        <p:nvSpPr>
          <p:cNvPr id="17446" name="TextBox 17445"/>
          <p:cNvSpPr txBox="1"/>
          <p:nvPr/>
        </p:nvSpPr>
        <p:spPr>
          <a:xfrm>
            <a:off x="5943600" y="4617719"/>
            <a:ext cx="2907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800" b="0" i="1" u="none">
                <a:solidFill>
                  <a:srgbClr val="595959"/>
                </a:solidFill>
                <a:latin typeface="Arial"/>
              </a:rPr>
              <a:t>Landing: live coal lanes, ports &amp; chokepoints</a:t>
            </a:r>
          </a:p>
        </p:txBody>
      </p:sp>
      <p:pic>
        <p:nvPicPr>
          <p:cNvPr id="17447" name="Picture 17446" descr="crop_pl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3529849"/>
            <a:ext cx="2907792" cy="1069317"/>
          </a:xfrm>
          <a:prstGeom prst="rect">
            <a:avLst/>
          </a:prstGeom>
          <a:ln w="9525">
            <a:solidFill>
              <a:srgbClr val="9FB3CC"/>
            </a:solidFill>
          </a:ln>
        </p:spPr>
      </p:pic>
      <p:sp>
        <p:nvSpPr>
          <p:cNvPr id="17448" name="TextBox 17447"/>
          <p:cNvSpPr txBox="1"/>
          <p:nvPr/>
        </p:nvSpPr>
        <p:spPr>
          <a:xfrm>
            <a:off x="8979408" y="4617719"/>
            <a:ext cx="2907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800" b="0" i="1" u="none">
                <a:solidFill>
                  <a:srgbClr val="595959"/>
                </a:solidFill>
                <a:latin typeface="Arial"/>
              </a:rPr>
              <a:t>Plan a Charter: vessel, parcel, mix, ladder</a:t>
            </a:r>
          </a:p>
        </p:txBody>
      </p:sp>
      <p:pic>
        <p:nvPicPr>
          <p:cNvPr id="17449" name="Picture 17448" descr="crop_f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910679"/>
            <a:ext cx="2907792" cy="1069145"/>
          </a:xfrm>
          <a:prstGeom prst="rect">
            <a:avLst/>
          </a:prstGeom>
          <a:ln w="9525">
            <a:solidFill>
              <a:srgbClr val="9FB3CC"/>
            </a:solidFill>
          </a:ln>
        </p:spPr>
      </p:pic>
      <p:sp>
        <p:nvSpPr>
          <p:cNvPr id="17450" name="TextBox 17449"/>
          <p:cNvSpPr txBox="1"/>
          <p:nvPr/>
        </p:nvSpPr>
        <p:spPr>
          <a:xfrm>
            <a:off x="5943600" y="5998464"/>
            <a:ext cx="2907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800" b="0" i="1" u="none">
                <a:solidFill>
                  <a:srgbClr val="595959"/>
                </a:solidFill>
                <a:latin typeface="Arial"/>
              </a:rPr>
              <a:t>Port feasibility: ships settle to port draft</a:t>
            </a:r>
          </a:p>
        </p:txBody>
      </p:sp>
      <p:pic>
        <p:nvPicPr>
          <p:cNvPr id="17451" name="Picture 17450" descr="crop_ledg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408" y="5059614"/>
            <a:ext cx="2907792" cy="771274"/>
          </a:xfrm>
          <a:prstGeom prst="rect">
            <a:avLst/>
          </a:prstGeom>
          <a:ln w="9525">
            <a:solidFill>
              <a:srgbClr val="9FB3CC"/>
            </a:solidFill>
          </a:ln>
        </p:spPr>
      </p:pic>
      <p:sp>
        <p:nvSpPr>
          <p:cNvPr id="17452" name="TextBox 17451"/>
          <p:cNvSpPr txBox="1"/>
          <p:nvPr/>
        </p:nvSpPr>
        <p:spPr>
          <a:xfrm>
            <a:off x="8979408" y="5998464"/>
            <a:ext cx="29077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800" b="0" i="1" u="none">
                <a:solidFill>
                  <a:srgbClr val="595959"/>
                </a:solidFill>
                <a:latin typeface="Arial"/>
              </a:rPr>
              <a:t>Decision ledger: hash-stamped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SINISTER</a:t>
            </a:r>
            <a:endParaRPr lang="en-IN" dirty="0"/>
          </a:p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069848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50" b="1" i="0" u="none">
                <a:solidFill>
                  <a:srgbClr val="1F497D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389888"/>
            <a:ext cx="2816352" cy="11704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411479" y="1444752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Technical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084832" y="147218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2084832" y="1472184"/>
            <a:ext cx="960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750" b="1" i="0" u="none">
                <a:solidFill>
                  <a:srgbClr val="FFFFFF"/>
                </a:solidFill>
                <a:latin typeface="Arial"/>
              </a:rPr>
              <a:t>PROVEN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11479" y="1755648"/>
            <a:ext cx="263347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Full prototype built &amp; tested: 35 endpoints, 11/11 test groups, LP solves in ~30 ms, whole pipeline retrains in 35 s–15 min on a laptop.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264408" y="1389888"/>
            <a:ext cx="2816352" cy="11704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3355848" y="1444752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Data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029200" y="147218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5029200" y="1472184"/>
            <a:ext cx="960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750" b="1" i="0" u="none">
                <a:solidFill>
                  <a:srgbClr val="FFFFFF"/>
                </a:solidFill>
                <a:latin typeface="Arial"/>
              </a:rPr>
              <a:t>READY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355848" y="1755648"/>
            <a:ext cx="263347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Every input has a real or public proxy (IMF PortWatch, World Bank, IMD); CSV upload retrains on SAIL’s own fixture history.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20040" y="2670048"/>
            <a:ext cx="2816352" cy="11704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411479" y="2724912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Economic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084832" y="275234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2084832" y="2752344"/>
            <a:ext cx="960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750" b="1" i="0" u="none">
                <a:solidFill>
                  <a:srgbClr val="FFFFFF"/>
                </a:solidFill>
                <a:latin typeface="Arial"/>
              </a:rPr>
              <a:t>LOW COST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11479" y="3035808"/>
            <a:ext cx="263347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Open-source stack, no licence cost except optional Baltic data. Backtest: $49.7 M saved on one 900 kt/quarter lane.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64408" y="2670048"/>
            <a:ext cx="2816352" cy="1170432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3355848" y="2724912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Operational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029200" y="275234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5029200" y="2752344"/>
            <a:ext cx="960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750" b="1" i="0" u="none">
                <a:solidFill>
                  <a:srgbClr val="FFFFFF"/>
                </a:solidFill>
                <a:latin typeface="Arial"/>
              </a:rPr>
              <a:t>FITS PROCESS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3355848" y="3035808"/>
            <a:ext cx="2633472" cy="758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Matches the weekly chartering cadence and tender route: outputs vessel size, tenure, volume and laycan spacing for tenders.</a:t>
            </a:r>
          </a:p>
        </p:txBody>
      </p:sp>
      <p:graphicFrame>
        <p:nvGraphicFramePr>
          <p:cNvPr id="17431" name="Chart 17430"/>
          <p:cNvGraphicFramePr>
            <a:graphicFrameLocks noGrp="1"/>
          </p:cNvGraphicFramePr>
          <p:nvPr/>
        </p:nvGraphicFramePr>
        <p:xfrm>
          <a:off x="6263640" y="1051560"/>
          <a:ext cx="5605272" cy="239572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32" name="TextBox 17431"/>
          <p:cNvSpPr txBox="1"/>
          <p:nvPr/>
        </p:nvSpPr>
        <p:spPr>
          <a:xfrm>
            <a:off x="6263640" y="3474720"/>
            <a:ext cx="56052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750" b="0" i="1" u="none">
                <a:solidFill>
                  <a:srgbClr val="595959"/>
                </a:solidFill>
                <a:latin typeface="Arial"/>
              </a:rPr>
              <a:t>80% band coverage 79–85% (target 80%) · DM test p&lt;0.05 at 1–4 weeks · placebo-market skill ≈ 0 (-2.0 to +1.0%)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320040" y="3749039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50" b="1" i="0" u="none">
                <a:solidFill>
                  <a:srgbClr val="1F497D"/>
                </a:solidFill>
                <a:latin typeface="Arial"/>
              </a:rPr>
              <a:t>Potential challenges and risks   →   Strategies for overcoming these challenges</a:t>
            </a:r>
          </a:p>
        </p:txBody>
      </p:sp>
      <p:graphicFrame>
        <p:nvGraphicFramePr>
          <p:cNvPr id="17434" name="Table 17433"/>
          <p:cNvGraphicFramePr>
            <a:graphicFrameLocks noGrp="1"/>
          </p:cNvGraphicFramePr>
          <p:nvPr/>
        </p:nvGraphicFramePr>
        <p:xfrm>
          <a:off x="320040" y="4041648"/>
          <a:ext cx="11521440" cy="22082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40"/>
                <a:gridCol w="2743200"/>
                <a:gridCol w="2240280"/>
                <a:gridCol w="6217920"/>
              </a:tblGrid>
              <a:tr h="315468"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Challenge / risk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What could go wrong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Strategy for overcoming it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Freight indices are licensed; SAIL history not yet shared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Model trained on proxy data only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Data Hub: validated CSV upload + automatic retrain; public proxies (IMF PortWatch, World Bank); proxy-filled columns labelled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Freight is hard to predict beyond 8–12 weeks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Over-confident lock-ins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Calibrated conformal bands, CVaR penalty, ≤35% per ladder tranche, weekly re-solve, placebo &amp; ablation checks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Port limits change (dredging, tides, monsoon)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Wrong vessel, part cargo, idle berth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Constraint register with confidence + ‘verify_with’ source, monsoon draft deltas, congestion &amp; draft alerts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COA / TC availability and owner premiums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Quoted price differs from model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Quotes modelled as distributions; ledger records actual fixed rates to learn real premiums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PSU procurement &amp; audit rules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Recommendations not actionable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Outputs tender specifications, not bypasses; hash-stamped ledger + printable charter notes for CVC/CAG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Desk trust and change management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Tool ignored in practice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E8B57"/>
                          </a:solidFill>
                          <a:latin typeface="Arial"/>
                        </a:rPr>
                        <a:t>Shadow mode first, ‘why this recommendation’ explanations, what-if levers, one-click scenario comparison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SINISTER</a:t>
            </a:r>
            <a:endParaRPr lang="en-IN" dirty="0"/>
          </a:p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078992"/>
            <a:ext cx="2798064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29768" y="1097280"/>
            <a:ext cx="257860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2400" b="1" i="0" u="none">
                <a:solidFill>
                  <a:srgbClr val="E36C0A"/>
                </a:solidFill>
                <a:latin typeface="Arial"/>
              </a:rPr>
              <a:t>13.9%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29768" y="1572768"/>
            <a:ext cx="25786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850" b="1" i="0" u="none">
                <a:solidFill>
                  <a:srgbClr val="262626"/>
                </a:solidFill>
                <a:latin typeface="Arial"/>
              </a:rPr>
              <a:t>lower landed freight vs daily spot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595959"/>
                </a:solidFill>
                <a:latin typeface="Arial"/>
              </a:rPr>
              <a:t>90% CI 11.4–16.3%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27832" y="1078992"/>
            <a:ext cx="2798064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337560" y="1097280"/>
            <a:ext cx="257860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2400" b="1" i="0" u="none">
                <a:solidFill>
                  <a:srgbClr val="1F497D"/>
                </a:solidFill>
                <a:latin typeface="Arial"/>
              </a:rPr>
              <a:t>$49.7 M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337560" y="1572768"/>
            <a:ext cx="25786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850" b="1" i="0" u="none">
                <a:solidFill>
                  <a:srgbClr val="262626"/>
                </a:solidFill>
                <a:latin typeface="Arial"/>
              </a:rPr>
              <a:t>saved over 22 quarters on one 900 kt/quarter lane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595959"/>
                </a:solidFill>
                <a:latin typeface="Arial"/>
              </a:rPr>
              <a:t>67% of perfect-foresight saving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35624" y="1078992"/>
            <a:ext cx="2798064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6245352" y="1097280"/>
            <a:ext cx="257860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2400" b="1" i="0" u="none">
                <a:solidFill>
                  <a:srgbClr val="2E8B57"/>
                </a:solidFill>
                <a:latin typeface="Arial"/>
              </a:rPr>
              <a:t>268 → 54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45352" y="1572768"/>
            <a:ext cx="25786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850" b="1" i="0" u="none">
                <a:solidFill>
                  <a:srgbClr val="262626"/>
                </a:solidFill>
                <a:latin typeface="Arial"/>
              </a:rPr>
              <a:t>single spot fixtures (−80%)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595959"/>
                </a:solidFill>
                <a:latin typeface="Arial"/>
              </a:rPr>
              <a:t>73% of volume on multi-voyage COA/TC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43416" y="1078992"/>
            <a:ext cx="2798064" cy="102412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9153144" y="1097280"/>
            <a:ext cx="257860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2400" b="1" i="0" u="none">
                <a:solidFill>
                  <a:srgbClr val="0070C0"/>
                </a:solidFill>
                <a:latin typeface="Arial"/>
              </a:rPr>
              <a:t>$20.6 → $17.7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153144" y="1572768"/>
            <a:ext cx="257860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850" b="1" i="0" u="none">
                <a:solidFill>
                  <a:srgbClr val="262626"/>
                </a:solidFill>
                <a:latin typeface="Arial"/>
              </a:rPr>
              <a:t>bad-quarter freight, $/t (CVaR90)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850" b="0" i="0" u="none">
                <a:solidFill>
                  <a:srgbClr val="595959"/>
                </a:solidFill>
                <a:latin typeface="Arial"/>
              </a:rPr>
              <a:t>cheaper than today in 100% of quarters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20040" y="2121408"/>
            <a:ext cx="11521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00" b="0" i="1" u="none">
                <a:solidFill>
                  <a:srgbClr val="595959"/>
                </a:solidFill>
                <a:latin typeface="Arial"/>
              </a:rPr>
              <a:t>Walk-forward backtest, Hay Point (Queensland) → Paradip, test period 2021–mid 2026, synthetic market data: demonstrates the method, not realised SAIL savings.</a:t>
            </a:r>
          </a:p>
        </p:txBody>
      </p:sp>
      <p:graphicFrame>
        <p:nvGraphicFramePr>
          <p:cNvPr id="17423" name="Chart 17422"/>
          <p:cNvGraphicFramePr>
            <a:graphicFrameLocks noGrp="1"/>
          </p:cNvGraphicFramePr>
          <p:nvPr/>
        </p:nvGraphicFramePr>
        <p:xfrm>
          <a:off x="320040" y="2377440"/>
          <a:ext cx="539496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24" name="TextBox 17423"/>
          <p:cNvSpPr txBox="1"/>
          <p:nvPr/>
        </p:nvSpPr>
        <p:spPr>
          <a:xfrm>
            <a:off x="5943600" y="2331720"/>
            <a:ext cx="5943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Potential impact on the target audience</a:t>
            </a:r>
          </a:p>
        </p:txBody>
      </p:sp>
      <p:graphicFrame>
        <p:nvGraphicFramePr>
          <p:cNvPr id="17425" name="Table 17424"/>
          <p:cNvGraphicFramePr>
            <a:graphicFrameLocks noGrp="1"/>
          </p:cNvGraphicFramePr>
          <p:nvPr/>
        </p:nvGraphicFramePr>
        <p:xfrm>
          <a:off x="5943600" y="2633472"/>
          <a:ext cx="5925310" cy="20802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74519"/>
                <a:gridCol w="4050791"/>
              </a:tblGrid>
              <a:tr h="297180"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Chartering desk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From daily market-chasing to a weekly plan; Quote X-ray strengthens every negotiation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Head of Shipping / Procurement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Multi-voyage COA/TC strategy with tender timing, tenure and volume specifications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Finance / CFO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Predictable freight budgets; freight per t of hot metal ($11.43) and CVaR as KPIs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Steel plants (Bokaro, Rourkela, Bhilai…)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Reliable coal arrivals, fewer stock-outs and demurrage days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Ports (Paradip, Dhamra, Haldia…)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Laycan spacing avoids berth bunching and anchorage queues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Auditors (CVC / CAG)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Every recommendation stored with input hash, data version and officer decision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7426" name="TextBox 17425"/>
          <p:cNvSpPr txBox="1"/>
          <p:nvPr/>
        </p:nvSpPr>
        <p:spPr>
          <a:xfrm>
            <a:off x="320040" y="4800600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00" b="1" i="0" u="none">
                <a:solidFill>
                  <a:srgbClr val="1F497D"/>
                </a:solidFill>
                <a:latin typeface="Arial"/>
              </a:rPr>
              <a:t>Benefits of the solution (social, economic, environmental, etc.)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5084064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Oval 17427"/>
          <p:cNvSpPr/>
          <p:nvPr/>
        </p:nvSpPr>
        <p:spPr>
          <a:xfrm>
            <a:off x="429768" y="5175504"/>
            <a:ext cx="146304" cy="146304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630936" y="5120640"/>
            <a:ext cx="34015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Economic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11479" y="5394960"/>
            <a:ext cx="3602736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E36C0A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Lower and steadier $/t freight; fewer demurrage and idle days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E36C0A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Freight-adjusted FOB break-even sharpens origin choice for procurement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E36C0A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Scales to every origin × East-Coast port with no route-specific model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197096" y="5084064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2" name="Oval 17431"/>
          <p:cNvSpPr/>
          <p:nvPr/>
        </p:nvSpPr>
        <p:spPr>
          <a:xfrm>
            <a:off x="4306824" y="5175504"/>
            <a:ext cx="146304" cy="146304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507992" y="5120640"/>
            <a:ext cx="34015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Social &amp; governance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288536" y="5394960"/>
            <a:ext cx="3602736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Transparent, auditable PSU decisions (charter notes, ledger)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In-house analytics capability (Aatmanirbhar), no vendor lock-in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0070C0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Supports National Steel Policy 2017 target of 300 MTPA by 2030-31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8074152" y="5084064"/>
            <a:ext cx="3767328" cy="1188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C5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Oval 17435"/>
          <p:cNvSpPr/>
          <p:nvPr/>
        </p:nvSpPr>
        <p:spPr>
          <a:xfrm>
            <a:off x="8183879" y="5175504"/>
            <a:ext cx="146304" cy="14630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8385048" y="5120640"/>
            <a:ext cx="34015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000" b="1" i="0" u="none">
                <a:solidFill>
                  <a:srgbClr val="1F497D"/>
                </a:solidFill>
                <a:latin typeface="Arial"/>
              </a:rPr>
              <a:t>Environmental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165592" y="5394960"/>
            <a:ext cx="3602736" cy="868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2E8B57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JIT slow-steaming ≈ 380 t fuel &amp; ≈ 1,180 t CO2 saved per 6-day Capesize idle window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2E8B57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Right-sized parcels and fewer ballast legs cut emissions per tonne</a:t>
            </a:r>
          </a:p>
          <a:p>
            <a:pPr algn="l" marL="146304" indent="-146304">
              <a:lnSpc>
                <a:spcPct val="100000"/>
              </a:lnSpc>
              <a:spcAft>
                <a:spcPts val="150"/>
              </a:spcAft>
              <a:buClr>
                <a:srgbClr val="2E8B57"/>
              </a:buClr>
              <a:buFont typeface="Arial"/>
              <a:buChar char="•"/>
            </a:pPr>
            <a:r>
              <a:rPr sz="850" b="0" i="0" u="none">
                <a:solidFill>
                  <a:srgbClr val="262626"/>
                </a:solidFill>
                <a:latin typeface="Arial"/>
              </a:rPr>
              <a:t>Supports IMO CII (carbon-intensity) compliance of chartered ships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SINISTER</a:t>
            </a:r>
            <a:endParaRPr lang="en-IN" dirty="0"/>
          </a:p>
          <a:p>
            <a:pPr algn="ctr"/>
            <a:r>
              <a:rPr sz="1100" b="1" i="0" u="none">
                <a:solidFill>
                  <a:srgbClr val="1F497D"/>
                </a:solidFill>
                <a:latin typeface="Arial"/>
              </a:rPr>
              <a:t>SIX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069848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250" b="1" i="0" u="none">
                <a:solidFill>
                  <a:srgbClr val="1F497D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371600"/>
            <a:ext cx="6766560" cy="4892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Methods &amp; research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[1] Rockafellar, R.T. &amp; Uryasev, S. (2000). Optimization of Conditional Value-at-Risk. Journal of Risk 2(3), 21–41.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CVaR ladder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[2] Romano, Y., Patterson, E. &amp; Candès, E. (2019). Conformalized Quantile Regression. NeurIPS. arxiv.org/abs/1905.03222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calibrated bands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[3] Ke, G. et al. (2017). LightGBM: A Highly Efficient Gradient Boosting Decision Tree. NeurIPS.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quantile GBM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[4] Diebold, F.X. &amp; Mariano, R.S. (1995). Comparing Predictive Accuracy. J. Business &amp; Economic Statistics 13(3).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DM test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[5] Elmachtoub, A. &amp; Grigas, P. (2022). Smart “Predict, then Optimize”. Management Science 68(1).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decision-focused tuning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[6] Huangfu, Q. &amp; Hall, J.A.J. (2018). Parallelizing the dual revised simplex method. Math. Prog. Computation 10 (HiGHS).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LP solver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[7] Ansari, A.F. et al. (2024). Chronos, arxiv.org/abs/2403.07815;  Das, A. et al. (2024). TimesFM, arxiv.org/abs/2310.10688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foundation plug-in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[8] Stopford, M. (2009). Maritime Economics, 3rd ed. Routledge.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freight economics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Data &amp; domain sources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[9] Baltic Exchange dry-bulk indices (BCI, BPI, BSI, BHSI): balticexchange.com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freight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[10] IMF PortWatch, AIS-based port calls &amp; disruptions: portwatch.imf.org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congestion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[11] World Bank Commodity Price Data (Pink Sheet): worldbank.org/en/research/commodity-markets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coal prices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[12] India Meteorological Department, RSMC New Delhi cyclone bulletins: mausam.imd.gov.in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cyclone alerts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[13] Paradip Port Authority (paradipport.gov.in); SMP Kolkata-Haldia, Dhamra, Gangavaram, Vizag port handbooks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draft/LOA limits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[14] Ministry of Steel, National Steel Policy 2017: steel.gov.in  ·  [15] IMO Fourth GHG Study 2020 &amp; CII rules: imo.org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policy / emissions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buNone/>
            </a:pPr>
            <a:r>
              <a:rPr sz="1050" b="1" i="0" u="none">
                <a:solidFill>
                  <a:srgbClr val="1F497D"/>
                </a:solidFill>
                <a:latin typeface="Arial"/>
              </a:rPr>
              <a:t>Our work</a:t>
            </a:r>
          </a:p>
          <a:p>
            <a:pPr algn="l">
              <a:lnSpc>
                <a:spcPct val="105000"/>
              </a:lnSpc>
              <a:spcAft>
                <a:spcPts val="350"/>
              </a:spcAft>
              <a:buNone/>
            </a:pPr>
            <a:r>
              <a:rPr sz="880" b="0" i="0" u="none">
                <a:solidFill>
                  <a:srgbClr val="262626"/>
                </a:solidFill>
                <a:latin typeface="Arial"/>
              </a:rPr>
              <a:t>[16] FreightSaarthi source code, design document, demo script &amp; API: github.com/Anuttaman216/PS2</a:t>
            </a:r>
            <a:r>
              <a:rPr sz="750" b="0" i="1" u="none">
                <a:solidFill>
                  <a:srgbClr val="E36C0A"/>
                </a:solidFill>
                <a:latin typeface="Arial"/>
              </a:rPr>
              <a:t>   prototype</a:t>
            </a:r>
          </a:p>
        </p:txBody>
      </p:sp>
      <p:graphicFrame>
        <p:nvGraphicFramePr>
          <p:cNvPr id="17412" name="Chart 17411"/>
          <p:cNvGraphicFramePr>
            <a:graphicFrameLocks noGrp="1"/>
          </p:cNvGraphicFramePr>
          <p:nvPr/>
        </p:nvGraphicFramePr>
        <p:xfrm>
          <a:off x="7223760" y="1051560"/>
          <a:ext cx="4645152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7223760" y="3566160"/>
            <a:ext cx="46451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1100" b="1" i="0" u="none">
                <a:solidFill>
                  <a:srgbClr val="1F497D"/>
                </a:solidFill>
                <a:latin typeface="Arial"/>
              </a:rPr>
              <a:t>Data provenance used in the prototype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7223760" y="3858768"/>
          <a:ext cx="4645152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25880"/>
                <a:gridCol w="1783080"/>
                <a:gridCol w="153619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Real source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 u="none">
                          <a:solidFill>
                            <a:srgbClr val="FFFFFF"/>
                          </a:solidFill>
                          <a:latin typeface="Arial"/>
                        </a:rPr>
                        <a:t>Prototype status</a:t>
                      </a:r>
                    </a:p>
                  </a:txBody>
                  <a:tcPr marL="45720" marR="45720" marT="22860" marB="22860" anchor="ctr">
                    <a:solidFill>
                      <a:srgbClr val="1F497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Class TCE indices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Baltic Exchange / brokers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B26B00"/>
                          </a:solidFill>
                          <a:latin typeface="Arial"/>
                        </a:rPr>
                        <a:t>Synthetic → CSV upload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Bunker, coal, PMI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Ship &amp; Bunker, World Bank, NBS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B26B00"/>
                          </a:solidFill>
                          <a:latin typeface="Arial"/>
                        </a:rPr>
                        <a:t>Synthetic, proxy-ready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Port congestion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IMF PortWatch, port reports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B26B00"/>
                          </a:solidFill>
                          <a:latin typeface="Arial"/>
                        </a:rPr>
                        <a:t>Synthetic, proxy-ready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Port / vessel limits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Port handbooks, Equasis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B26B00"/>
                          </a:solidFill>
                          <a:latin typeface="Arial"/>
                        </a:rPr>
                        <a:t>Assumption, flagged</a:t>
                      </a:r>
                    </a:p>
                  </a:txBody>
                  <a:tcPr marL="45720" marR="45720" marT="22860" marB="22860" anchor="ctr">
                    <a:solidFill>
                      <a:srgbClr val="EEF3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50" b="1" i="0" u="none">
                          <a:solidFill>
                            <a:srgbClr val="262626"/>
                          </a:solidFill>
                          <a:latin typeface="Arial"/>
                        </a:rPr>
                        <a:t>Weather / news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262626"/>
                          </a:solidFill>
                          <a:latin typeface="Arial"/>
                        </a:rPr>
                        <a:t>IMD RSMC, news feeds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 u="none">
                          <a:solidFill>
                            <a:srgbClr val="B26B00"/>
                          </a:solidFill>
                          <a:latin typeface="Arial"/>
                        </a:rPr>
                        <a:t>Rule / LLM extraction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5" name="TextBox 17414"/>
          <p:cNvSpPr txBox="1"/>
          <p:nvPr/>
        </p:nvSpPr>
        <p:spPr>
          <a:xfrm>
            <a:off x="7223760" y="5559552"/>
            <a:ext cx="46451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800" b="0" i="1" u="none">
                <a:solidFill>
                  <a:srgbClr val="595959"/>
                </a:solidFill>
                <a:latin typeface="Arial"/>
              </a:rPr>
              <a:t>Every assumed number carries a confidence tag and a ‘verify_with’ source in the constraint register; real data replaces synthetic through the Data Hub without code changes.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